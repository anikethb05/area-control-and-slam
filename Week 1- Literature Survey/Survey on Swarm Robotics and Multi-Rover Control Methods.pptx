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5d64b63e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5d64b63e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5d64b63e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5d64b63e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5d64b63e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5d64b63e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5d64b63e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5d64b63e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5d64b63e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5d64b63e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5d64b63e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5d64b63e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5d64b63e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5d64b63e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5d64b63e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5d64b63e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5d64b63e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5d64b63e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5d64b63e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65d64b63e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5d64b63e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65d64b63e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5d64b63e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5d64b63e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5d64b63e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5d64b63e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Survey on Swarm Robotics and Multi-Rover Control Methods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Aniketh Bhargav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t>Swarm robotics employs decentralized coordination inspired by natural collective behaviors, such as ant colonies or bird flocks, to address tasks like area coverage, essential for applications including exploration, surveillance, mapping, and foraging. Multi-rover systems, characterized by complex dynamics and non-holonomic constraints, require advanced control strategies like Nonlinear Model Predictive Control (NMPC) to manage cooperative manipulation. Single-robot coverage algorithms, such as the Cell Permeability-based Cover age (CPC) algorithm, provide exact coverage with minimal overlap in unknown environments. Recent advances include the Additively Weighted Guaranteed Voronoi (AWGV) diagram for multi-agent coverage under localization uncertainty and Optimal Transport-based Coverage Control (OTCC) for generalizing Voronoi-based methods. This survey integrates theoretical concepts from a 2015–2022 review of swarm robotics for area coverage, a study on NMPC for multi-rover systems, the CPC algorithm, AWGV for imprecise localization, and OTCC for swarm systems, providing detailed explanations of each method’s theory, mathematical formulation, and relevance.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Metaheuristic Algorithms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Metaheuristic algorithms leverage swarm intelligence, drawing from natural systems to achieve decentralized, scalable, and robust coordination.</a:t>
            </a:r>
            <a:endParaRPr/>
          </a:p>
          <a:p>
            <a:pPr indent="0" lvl="0" marL="0" rtl="0" algn="l">
              <a:spcBef>
                <a:spcPts val="1200"/>
              </a:spcBef>
              <a:spcAft>
                <a:spcPts val="1200"/>
              </a:spcAft>
              <a:buNone/>
            </a:pPr>
            <a:r>
              <a:rPr lang="en"/>
              <a:t> </a:t>
            </a:r>
            <a:r>
              <a:rPr b="1" lang="en" u="sng"/>
              <a:t>Ant Colony Optimization (ACO):</a:t>
            </a:r>
            <a:r>
              <a:rPr lang="en"/>
              <a:t> ACO is inspired by the foraging behavior of ants, where individuals deposit pheromones to mark paths to food sources, creating a positive feedback loop that guides the 1 colony toward optimal routes. In swarm robotics, artificial pheromones, implemented via robot to-robot communication or environmental markers, guide exploration and coverage.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Metaheuristic Algorithms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Variants: </a:t>
            </a:r>
            <a:endParaRPr/>
          </a:p>
          <a:p>
            <a:pPr indent="0" lvl="0" marL="457200" rtl="0" algn="l">
              <a:spcBef>
                <a:spcPts val="1200"/>
              </a:spcBef>
              <a:spcAft>
                <a:spcPts val="0"/>
              </a:spcAft>
              <a:buNone/>
            </a:pPr>
            <a:r>
              <a:rPr lang="en"/>
              <a:t>• Cellular Automata Ant Memory Model (CAAM)</a:t>
            </a:r>
            <a:endParaRPr/>
          </a:p>
          <a:p>
            <a:pPr indent="0" lvl="0" marL="457200" rtl="0" algn="l">
              <a:spcBef>
                <a:spcPts val="1200"/>
              </a:spcBef>
              <a:spcAft>
                <a:spcPts val="0"/>
              </a:spcAft>
              <a:buNone/>
            </a:pPr>
            <a:r>
              <a:rPr lang="en"/>
              <a:t> • Ant Foraging with Adaptive Brownian L´evy Flight</a:t>
            </a:r>
            <a:endParaRPr/>
          </a:p>
          <a:p>
            <a:pPr indent="0" lvl="0" marL="457200" rtl="0" algn="l">
              <a:spcBef>
                <a:spcPts val="1200"/>
              </a:spcBef>
              <a:spcAft>
                <a:spcPts val="0"/>
              </a:spcAft>
              <a:buNone/>
            </a:pPr>
            <a:r>
              <a:rPr lang="en"/>
              <a:t> • Genetic Shared Tabu Inverted Ant Cellular Automata (GSTIACA)</a:t>
            </a:r>
            <a:endParaRPr/>
          </a:p>
          <a:p>
            <a:pPr indent="0" lvl="0" marL="0" rtl="0" algn="l">
              <a:spcBef>
                <a:spcPts val="1200"/>
              </a:spcBef>
              <a:spcAft>
                <a:spcPts val="1200"/>
              </a:spcAft>
              <a:buNone/>
            </a:pPr>
            <a:r>
              <a:rPr b="1" lang="en" u="sng"/>
              <a:t>Particle Swarm Optimization (PSO): </a:t>
            </a:r>
            <a:r>
              <a:rPr lang="en"/>
              <a:t> PSO emulates the flocking behavior of birds, where individuals adjust their positions based on personal and collective experiences. Each robot (particle) navigates semi autonomously, balancing individual exploration with swarm-wide exploitation.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Metaheuristic Algorithms</a:t>
            </a:r>
            <a:endParaRPr/>
          </a:p>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Variants: </a:t>
            </a:r>
            <a:endParaRPr/>
          </a:p>
          <a:p>
            <a:pPr indent="0" lvl="0" marL="0" rtl="0" algn="l">
              <a:spcBef>
                <a:spcPts val="1200"/>
              </a:spcBef>
              <a:spcAft>
                <a:spcPts val="0"/>
              </a:spcAft>
              <a:buNone/>
            </a:pPr>
            <a:r>
              <a:rPr lang="en"/>
              <a:t>	 • PSO with Inertia Weight</a:t>
            </a:r>
            <a:endParaRPr/>
          </a:p>
          <a:p>
            <a:pPr indent="0" lvl="0" marL="0" rtl="0" algn="l">
              <a:spcBef>
                <a:spcPts val="1200"/>
              </a:spcBef>
              <a:spcAft>
                <a:spcPts val="0"/>
              </a:spcAft>
              <a:buNone/>
            </a:pPr>
            <a:r>
              <a:rPr lang="en"/>
              <a:t>	 • Robotic Darwinian PSO (RDPSO)</a:t>
            </a:r>
            <a:endParaRPr/>
          </a:p>
          <a:p>
            <a:pPr indent="0" lvl="0" marL="0" rtl="0" algn="l">
              <a:spcBef>
                <a:spcPts val="1200"/>
              </a:spcBef>
              <a:spcAft>
                <a:spcPts val="0"/>
              </a:spcAft>
              <a:buNone/>
            </a:pPr>
            <a:r>
              <a:rPr lang="en"/>
              <a:t>	 • Exploration-Enhanced RPSO (E2RPSO)</a:t>
            </a:r>
            <a:endParaRPr/>
          </a:p>
          <a:p>
            <a:pPr indent="0" lvl="0" marL="0" rtl="0" algn="l">
              <a:spcBef>
                <a:spcPts val="1200"/>
              </a:spcBef>
              <a:spcAft>
                <a:spcPts val="0"/>
              </a:spcAft>
              <a:buNone/>
            </a:pPr>
            <a:r>
              <a:rPr lang="en"/>
              <a:t>	 • Adaptive Exploration RPSO (AERPSO)</a:t>
            </a:r>
            <a:endParaRPr/>
          </a:p>
          <a:p>
            <a:pPr indent="0" lvl="0" marL="0" rtl="0" algn="l">
              <a:spcBef>
                <a:spcPts val="1200"/>
              </a:spcBef>
              <a:spcAft>
                <a:spcPts val="1200"/>
              </a:spcAft>
              <a:buNone/>
            </a:pPr>
            <a:r>
              <a:rPr b="1" lang="en" u="sng"/>
              <a:t>Bacterial Foraging Optimization (BFO):  </a:t>
            </a:r>
            <a:r>
              <a:rPr lang="en"/>
              <a:t>BFO mimics the foraging behavior of E. coli bacteria, which move via chemotaxis (directed movement toward nutrients), reproduction, and elimination-dispersal. The theory emphasizes decentralized optimization, where each robot (bacterium) independently seeks optimal coverage areas based on local environmental cues.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Metaheuristic Algorithms</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Variants:</a:t>
            </a:r>
            <a:endParaRPr/>
          </a:p>
          <a:p>
            <a:pPr indent="0" lvl="0" marL="0" rtl="0" algn="l">
              <a:spcBef>
                <a:spcPts val="1200"/>
              </a:spcBef>
              <a:spcAft>
                <a:spcPts val="0"/>
              </a:spcAft>
              <a:buNone/>
            </a:pPr>
            <a:r>
              <a:rPr lang="en"/>
              <a:t>	 • Bacterial Chemotaxis (B.C.)</a:t>
            </a:r>
            <a:endParaRPr/>
          </a:p>
          <a:p>
            <a:pPr indent="0" lvl="0" marL="0" rtl="0" algn="l">
              <a:spcBef>
                <a:spcPts val="1200"/>
              </a:spcBef>
              <a:spcAft>
                <a:spcPts val="0"/>
              </a:spcAft>
              <a:buNone/>
            </a:pPr>
            <a:r>
              <a:rPr lang="en"/>
              <a:t>	• Bacterial Chemotaxis-Inspired Coordination Strategy (BCCS)</a:t>
            </a:r>
            <a:endParaRPr/>
          </a:p>
          <a:p>
            <a:pPr indent="0" lvl="0" marL="0" rtl="0" algn="l">
              <a:spcBef>
                <a:spcPts val="1200"/>
              </a:spcBef>
              <a:spcAft>
                <a:spcPts val="0"/>
              </a:spcAft>
              <a:buNone/>
            </a:pPr>
            <a:r>
              <a:rPr b="1" lang="en" u="sng"/>
              <a:t>Bee Algorithms</a:t>
            </a:r>
            <a:r>
              <a:rPr lang="en"/>
              <a:t>: Bee algorithms are inspired by honey bee foraging and mating behaviors, where a “queen” robot guides others toward optimal solutions</a:t>
            </a:r>
            <a:endParaRPr/>
          </a:p>
          <a:p>
            <a:pPr indent="0" lvl="0" marL="457200" rtl="0" algn="l">
              <a:spcBef>
                <a:spcPts val="1200"/>
              </a:spcBef>
              <a:spcAft>
                <a:spcPts val="0"/>
              </a:spcAft>
              <a:buNone/>
            </a:pPr>
            <a:r>
              <a:rPr lang="en"/>
              <a:t>• Honey Bee Optimization (MBO): Robots evaluate food sources (coverage areas) based on fitness.</a:t>
            </a:r>
            <a:endParaRPr/>
          </a:p>
          <a:p>
            <a:pPr indent="0" lvl="0" marL="457200" rtl="0" algn="l">
              <a:spcBef>
                <a:spcPts val="1200"/>
              </a:spcBef>
              <a:spcAft>
                <a:spcPts val="1200"/>
              </a:spcAft>
              <a:buNone/>
            </a:pPr>
            <a:r>
              <a:rPr lang="en"/>
              <a:t> • Fast Marriage in Honey Bee Optimization(FMHBO): The queen selects drones based on fitness, with probabilistic acceptance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Classical Algorithms</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Dynamic Voronoi-Based Algorithm: </a:t>
            </a:r>
            <a:r>
              <a:rPr lang="en"/>
              <a:t>This method divides the environment into Voronoi cells, where each robot covers the region closest to itself. Dynamic updates adjust cells as robots move, making it suitable for dynamic environments.</a:t>
            </a:r>
            <a:endParaRPr/>
          </a:p>
          <a:p>
            <a:pPr indent="0" lvl="0" marL="0" rtl="0" algn="l">
              <a:spcBef>
                <a:spcPts val="1200"/>
              </a:spcBef>
              <a:spcAft>
                <a:spcPts val="1200"/>
              </a:spcAft>
              <a:buNone/>
            </a:pPr>
            <a:r>
              <a:rPr b="1" lang="en" u="sng"/>
              <a:t>Decentralised Space-Based Potential Field (D-SBPF): </a:t>
            </a:r>
            <a:r>
              <a:rPr lang="en"/>
              <a:t>D-SBPF uses virtual potential fields to guide robots, with attractive forces toward unexplored areas and repulsive forces from covered regions or obstacles. The theory is based on physics-inspired navigation, enabling decentralized exploration without global maps.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Classical Algorithms</a:t>
            </a:r>
            <a:endParaRPr/>
          </a:p>
          <a:p>
            <a:pPr indent="0" lvl="0" marL="0" rtl="0" algn="l">
              <a:spcBef>
                <a:spcPts val="0"/>
              </a:spcBef>
              <a:spcAft>
                <a:spcPts val="0"/>
              </a:spcAft>
              <a:buNone/>
            </a:pPr>
            <a:r>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Force Vector Algorithm (FVA): </a:t>
            </a:r>
            <a:r>
              <a:rPr lang="en"/>
              <a:t>FVA treats robots as particles subject to virtual forces, balancing repulsion from neighbors, attraction to uncovered areas, and obstacle avoidance.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u="sng"/>
              <a:t> Cooperative Distributed Asynchronous (CORDA):</a:t>
            </a:r>
            <a:r>
              <a:rPr b="1" lang="en"/>
              <a:t> </a:t>
            </a:r>
            <a:r>
              <a:rPr lang="en"/>
              <a:t> CORDA models robot behavior as sequential cycles of observation, computation, and movement, mimicking real-world asynchronous interactions.</a:t>
            </a:r>
            <a:endParaRPr/>
          </a:p>
        </p:txBody>
      </p:sp>
      <p:pic>
        <p:nvPicPr>
          <p:cNvPr id="98" name="Google Shape;98;p20"/>
          <p:cNvPicPr preferRelativeResize="0"/>
          <p:nvPr/>
        </p:nvPicPr>
        <p:blipFill>
          <a:blip r:embed="rId3">
            <a:alphaModFix/>
          </a:blip>
          <a:stretch>
            <a:fillRect/>
          </a:stretch>
        </p:blipFill>
        <p:spPr>
          <a:xfrm>
            <a:off x="2775875" y="2301925"/>
            <a:ext cx="3140775" cy="385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Classical Algorithms</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b="1" lang="en" u="sng"/>
              <a:t>Cell Permeability-based Coverage (CPC) Algorithm: </a:t>
            </a:r>
            <a:r>
              <a:rPr lang="en"/>
              <a:t>The CPC algorithm addresses single-robot area coverage in unknown environments, achieving exact coverage with reduced overlap compared to existing approximate cel lular decomposition-based algorithms like Spanning Tree-based Coverage (STC) and Boustrophedon Decomposition-based Coverage (BDC). The theory is grounded in graph-based path planning, introducing the concept of ”minor nodes” associated with major cell boundaries to construct a spanning tree that ensures coverage of both free and partially occupied cells. Un like STC, which skips partially occupied cells, CPC uses a permeability-based adjacency graph to enable robots to navigate through accessible boundaries, ensuring completeness. The algorithm employs depth-first search (DFS) for spanning tree construction and wall-following for obstacle avoidance, balancing computational simplicity with exact coverage requirements. It is particularly effective for non-coverage conducive regions, where exact coverage inherently introduces some overlap near obstacles.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Classical Algorithms</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b="1" lang="en" u="sng"/>
              <a:t>Additively Weighted Guaranteed Voronoi (AWGV) Diagram:</a:t>
            </a:r>
            <a:r>
              <a:rPr b="1" i="1" lang="en" u="sng"/>
              <a:t> </a:t>
            </a:r>
            <a:r>
              <a:rPr lang="en"/>
              <a:t> The AWGV algorithm addresses static area coverage for a network of mobile, sensor-equipped agents operating with imprecise localization and heterogeneous sensing </a:t>
            </a:r>
            <a:r>
              <a:rPr lang="en"/>
              <a:t>capabilities</a:t>
            </a:r>
            <a:r>
              <a:rPr lang="en"/>
              <a:t>. It introduces a novel partitioning scheme, the Additively Weighted Guaranteed Voronoi (AWGV) diagram, which generalizes the Guaranteed Voronoi (GV) diagram by incorporating additively weighted distances based on agents’ guaranteed sensing radii to account for </a:t>
            </a:r>
            <a:r>
              <a:rPr lang="en"/>
              <a:t>positioning</a:t>
            </a:r>
            <a:r>
              <a:rPr lang="en"/>
              <a:t> uncertainty. Each agent is assigned an AWGV cell, defining its area of responsibility, ensuring points are closer to the agent’s position (within its uncertainty disk) than to others, adjusted by sensing weights. A distributed gradient-ascent control law maximizes coverage, enhanced with collision avoidance and region confinement mechanisms.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Classical Algorithms</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u="sng"/>
              <a:t>Optimal Transport-based Coverage Control (OTCC): </a:t>
            </a:r>
            <a:r>
              <a:rPr lang="en"/>
              <a:t> The OTCC algorithm generalises Voronoi tessellation-based methods for multi agent area coverage by leveraging optimal transport theory. Unlike traditional Voronoi methods, which assign regions based on Euclidean distances, OTCC uses optimal transport to partition the environment into cells that account for non-uniform importance distributions and heterogeneous agent capabilities. A distributed gradient-based control law drives agents to optimal configurations, ensuring adapt ability to environmental changes and constraints.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Multi-Rover Control Methods</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u="sng"/>
              <a:t>Optimal Control Allocation (OCA): </a:t>
            </a:r>
            <a:r>
              <a:rPr lang="en"/>
              <a:t> OCA is a two-stage control strategy designed for underdetermined systems, where the number of control inputs exceeds the degrees of freedom. The theory is rooted in optimization, aiming to allocate control efforts (e.g., wheel moments, joint torques) to minimize a cost function while satisfying dynamic constraints. Stage 1 generates reference trajectories using impedance control, which mimics a mass-spring-damper system to ensure smooth tracking. Stage 2 optimally distributes control inputs to minimize torque saturation and contact forces, leveraging quadratic programming for computational efficiency.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Multi-Rover Control Methods</a:t>
            </a:r>
            <a:endParaRPr/>
          </a:p>
          <a:p>
            <a:pPr indent="0" lvl="0" marL="0" rtl="0" algn="l">
              <a:spcBef>
                <a:spcPts val="0"/>
              </a:spcBef>
              <a:spcAft>
                <a:spcPts val="0"/>
              </a:spcAft>
              <a:buNone/>
            </a:pPr>
            <a:r>
              <a:t/>
            </a:r>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r>
              <a:rPr b="1" lang="en" u="sng"/>
              <a:t>Nonlinear Model Predictive Control (NMPC):</a:t>
            </a:r>
            <a:r>
              <a:rPr lang="en"/>
              <a:t> NMPC is an advanced control strategy that optimizes system behavior over a finite prediction horizon, accounting for nonlinear dynamics and constraints. The theory is based on optimal control, where a cost function is minimized at each control interval to predict and adjust future states, inputs, and outputs. NMPC’s strength lies in its ability to handle non-holonomic constraints and torque limits explicitly, making it ideal for complex multi-rover systems </a:t>
            </a:r>
            <a:r>
              <a:rPr lang="en"/>
              <a:t>carrying</a:t>
            </a:r>
            <a:r>
              <a:rPr lang="en"/>
              <a:t> a common load.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Metaheuristic algorithms like ACO, PSO, and BFO offer scalability and robustness for area coverage, leveraging decentralized coordination to adapt to dynamic environments.</a:t>
            </a:r>
            <a:endParaRPr/>
          </a:p>
          <a:p>
            <a:pPr indent="0" lvl="0" marL="0" rtl="0" algn="l">
              <a:spcBef>
                <a:spcPts val="1200"/>
              </a:spcBef>
              <a:spcAft>
                <a:spcPts val="0"/>
              </a:spcAft>
              <a:buNone/>
            </a:pPr>
            <a:r>
              <a:rPr lang="en"/>
              <a:t> Classical algorithms, such as D-SBPF, FVA, CPC, AWGV, and OTCC, provide simplicity and determinism, ideal for structured environments. CPC excels in single-robot exact coverage with minimal overlap, particularly in non-coverage 15 conducive regions.</a:t>
            </a:r>
            <a:endParaRPr/>
          </a:p>
          <a:p>
            <a:pPr indent="0" lvl="0" marL="0" rtl="0" algn="l">
              <a:spcBef>
                <a:spcPts val="1200"/>
              </a:spcBef>
              <a:spcAft>
                <a:spcPts val="1200"/>
              </a:spcAft>
              <a:buNone/>
            </a:pPr>
            <a:r>
              <a:rPr lang="en"/>
              <a:t> For multi-rover systems, NMPC’s predictive </a:t>
            </a:r>
            <a:r>
              <a:rPr lang="en"/>
              <a:t>capabilities</a:t>
            </a:r>
            <a:r>
              <a:rPr lang="en"/>
              <a:t> outperform OCA’s static optimization, particularly in managing torque saturation and non-holonomic constraints, though at a higher computational cost.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