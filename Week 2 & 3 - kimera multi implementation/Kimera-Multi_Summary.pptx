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4599F94E-CEE6-441E-89CC-EB005ECD8F06}">
      <a14:m xmlns:a14="http://schemas.microsoft.com/office/drawing/2010/main">
        <m:mathPr xmlns:m="http://schemas.openxmlformats.org/officeDocument/2006/math"/>
      </a14:m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1020" y="-2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020" y="1769541"/>
            <a:ext cx="7080026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3598339"/>
            <a:ext cx="7080026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472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998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1761068"/>
            <a:ext cx="7192913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589879"/>
            <a:ext cx="7192913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400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7" y="1732449"/>
            <a:ext cx="3795373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2169" y="1732450"/>
            <a:ext cx="3798499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2524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5" y="1770323"/>
            <a:ext cx="3787423" cy="4112953"/>
          </a:xfrm>
          <a:prstGeom prst="rect">
            <a:avLst/>
          </a:prstGeom>
        </p:spPr>
      </p:pic>
      <p:pic>
        <p:nvPicPr>
          <p:cNvPr id="14" name="Picture 13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245" y="1770323"/>
            <a:ext cx="3787423" cy="41129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404" y="1835254"/>
            <a:ext cx="3657258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404" y="2380138"/>
            <a:ext cx="365725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1225" y="1835255"/>
            <a:ext cx="3671498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1225" y="2380138"/>
            <a:ext cx="367149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732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282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063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0"/>
            <a:ext cx="2780167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609600"/>
            <a:ext cx="4808943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1518"/>
            <a:ext cx="2780167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826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late-V2-S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987" y="609923"/>
            <a:ext cx="3428146" cy="52054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923"/>
            <a:ext cx="3924676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76728" y="743989"/>
            <a:ext cx="3165375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9261"/>
            <a:ext cx="3924676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108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late-V2-S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95" y="540085"/>
            <a:ext cx="7656010" cy="38343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4" y="4565255"/>
            <a:ext cx="7766495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6217" y="695010"/>
            <a:ext cx="7285600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6532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498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8437"/>
            <a:ext cx="776532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295180"/>
            <a:ext cx="7765322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655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3"/>
            <a:ext cx="6564224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304353"/>
            <a:ext cx="7765322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27459" y="87391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8359" y="2933245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270713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2126943"/>
            <a:ext cx="7765322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9" y="4650556"/>
            <a:ext cx="776414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6313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033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7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4929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4929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2518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39" y="1826045"/>
            <a:ext cx="2529046" cy="1833558"/>
          </a:xfrm>
          <a:prstGeom prst="rect">
            <a:avLst/>
          </a:prstGeom>
        </p:spPr>
      </p:pic>
      <p:pic>
        <p:nvPicPr>
          <p:cNvPr id="28" name="Picture 27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813" y="1826045"/>
            <a:ext cx="2529046" cy="1833558"/>
          </a:xfrm>
          <a:prstGeom prst="rect">
            <a:avLst/>
          </a:prstGeom>
        </p:spPr>
      </p:pic>
      <p:pic>
        <p:nvPicPr>
          <p:cNvPr id="29" name="Picture 28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715" y="1826045"/>
            <a:ext cx="2529046" cy="1833558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6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63577" y="1938918"/>
            <a:ext cx="2319276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6" y="4480369"/>
            <a:ext cx="2475738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91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09307" y="1939094"/>
            <a:ext cx="2319276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75" y="4480368"/>
            <a:ext cx="2476753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5023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56774" y="1934432"/>
            <a:ext cx="2319276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4929" y="4480366"/>
            <a:ext cx="2475738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4368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2985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7302" y="609600"/>
            <a:ext cx="1713365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7" y="609600"/>
            <a:ext cx="5937654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009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732450"/>
            <a:ext cx="776532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7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22162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Kimera-Multi: Distributed Multi-Robot Metric-Semantic SLAM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Comprehensive Technical and Mathematical Summary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Introduction &amp;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Goal: Enable a team of robots to estimate a consistent 3D metric-semantic model of large environments.</a:t>
            </a:r>
          </a:p>
          <a:p>
            <a:pPr>
              <a:defRPr sz="2000"/>
            </a:pPr>
            <a:r>
              <a:t>Problem: Communication and computation bottlenecks in multi-robot SLAM.</a:t>
            </a:r>
          </a:p>
          <a:p>
            <a:pPr>
              <a:defRPr sz="2000"/>
            </a:pPr>
            <a:r>
              <a:t>Solution: Kimera-Multi — a fully distributed, real-time, semantically annotated SLAM system.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Key 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buNone/>
              <a:defRPr sz="2000"/>
            </a:pPr>
            <a:r>
              <a:rPr dirty="0"/>
              <a:t>• Distributed metric-semantic 3D mesh generation.</a:t>
            </a:r>
          </a:p>
          <a:p>
            <a:pPr marL="0" indent="0">
              <a:buNone/>
              <a:defRPr sz="2000"/>
            </a:pPr>
            <a:r>
              <a:rPr dirty="0"/>
              <a:t>• Incremental outlier rejection using Pairwise Consistency Maximization (PCM).</a:t>
            </a:r>
          </a:p>
          <a:p>
            <a:pPr marL="0" indent="0">
              <a:buNone/>
              <a:defRPr sz="2000"/>
            </a:pPr>
            <a:r>
              <a:rPr dirty="0"/>
              <a:t>• Robust pose graph optimization (PGO) using Riemannian Block Coordinate Descent (RBCD).</a:t>
            </a:r>
          </a:p>
          <a:p>
            <a:pPr marL="0" indent="0">
              <a:buNone/>
              <a:defRPr sz="2000"/>
            </a:pPr>
            <a:r>
              <a:rPr dirty="0"/>
              <a:t>• Communication-efficient and scalable.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buNone/>
              <a:defRPr sz="2000"/>
            </a:pPr>
            <a:r>
              <a:rPr dirty="0"/>
              <a:t>1. Kimera-VIO: Visual-inertial odometry with Bag-of-Words (</a:t>
            </a:r>
            <a:r>
              <a:rPr dirty="0" err="1"/>
              <a:t>BoW</a:t>
            </a:r>
            <a:r>
              <a:rPr dirty="0"/>
              <a:t>) for loop detection.</a:t>
            </a:r>
          </a:p>
          <a:p>
            <a:pPr marL="0" indent="0">
              <a:buNone/>
              <a:defRPr sz="2000"/>
            </a:pPr>
            <a:r>
              <a:rPr dirty="0"/>
              <a:t>2. Kimera-Semantics: Dense 3D mesh with per-face semantic labels.</a:t>
            </a:r>
          </a:p>
          <a:p>
            <a:pPr marL="0" indent="0">
              <a:buNone/>
              <a:defRPr sz="2000"/>
            </a:pPr>
            <a:r>
              <a:rPr dirty="0"/>
              <a:t>3. Distributed Loop Closure Detection: Match keyframes via </a:t>
            </a:r>
            <a:r>
              <a:rPr dirty="0" err="1"/>
              <a:t>BoW</a:t>
            </a:r>
            <a:r>
              <a:rPr dirty="0"/>
              <a:t> + geometric verification.</a:t>
            </a:r>
          </a:p>
          <a:p>
            <a:pPr marL="0" indent="0">
              <a:buNone/>
              <a:defRPr sz="2000"/>
            </a:pPr>
            <a:r>
              <a:rPr dirty="0"/>
              <a:t>4. Distributed PCM: Robust inlier filtering for loop closures.</a:t>
            </a:r>
          </a:p>
          <a:p>
            <a:pPr marL="0" indent="0">
              <a:buNone/>
              <a:defRPr sz="2000"/>
            </a:pPr>
            <a:r>
              <a:rPr dirty="0"/>
              <a:t>5. Distributed PGO: Optimize poses via RBCD.</a:t>
            </a:r>
          </a:p>
          <a:p>
            <a:pPr marL="0" indent="0">
              <a:buNone/>
              <a:defRPr sz="2000"/>
            </a:pPr>
            <a:r>
              <a:rPr dirty="0"/>
              <a:t>6. Local Mesh Optimization: Deform mesh using trajectory corrections.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4. Loop Closure Detection: Math Formulation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IN" dirty="0"/>
              </a:p>
              <a:p>
                <a:pPr>
                  <a:defRPr sz="2000"/>
                </a:pPr>
                <a:r>
                  <a:rPr lang="en-IN" dirty="0"/>
                  <a:t>Loop closure hypothesis between robots </a:t>
                </a:r>
                <a:r>
                  <a:rPr lang="en-IN" dirty="0" err="1"/>
                  <a:t>i</a:t>
                </a:r>
                <a:r>
                  <a:rPr lang="en-IN" dirty="0"/>
                  <a:t> and j:</a:t>
                </a:r>
              </a:p>
              <a:p>
                <a:pPr>
                  <a:defRPr sz="2000"/>
                </a:pPr>
                <a:r>
                  <a:rPr lang="en-IN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IN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∈ SE(3), estimated via geometric verification.</a:t>
                </a:r>
              </a:p>
              <a:p>
                <a:pPr>
                  <a:defRPr sz="2000"/>
                </a:pPr>
                <a:r>
                  <a:rPr lang="en-IN" dirty="0"/>
                  <a:t>Keyframe descriptors: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IN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i="1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dirty="0" err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IN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(from </a:t>
                </a:r>
                <a:r>
                  <a:rPr lang="en-IN" dirty="0" err="1"/>
                  <a:t>BoW</a:t>
                </a:r>
                <a:r>
                  <a:rPr lang="en-IN" dirty="0"/>
                  <a:t>).</a:t>
                </a:r>
              </a:p>
              <a:p>
                <a:pPr>
                  <a:defRPr sz="2000"/>
                </a:pPr>
                <a:r>
                  <a:rPr lang="en-IN" dirty="0"/>
                  <a:t>If match(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IN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i="1" dirty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dirty="0" err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IN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): compute relative transform:</a:t>
                </a:r>
              </a:p>
              <a:p>
                <a:pPr>
                  <a:defRPr sz="2000"/>
                </a:pPr>
                <a:r>
                  <a:rPr lang="en-IN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IN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= </a:t>
                </a:r>
                <a14:m>
                  <m:oMath xmlns:m="http://schemas.openxmlformats.org/officeDocument/2006/math">
                    <m:r>
                      <a:rPr lang="en-IN" i="1" dirty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IN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⁻¹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IN" dirty="0"/>
              </a:p>
              <a:p>
                <a:pPr>
                  <a:defRPr sz="2000"/>
                </a:pPr>
                <a:r>
                  <a:rPr lang="en-IN" dirty="0"/>
                  <a:t>Verification via 3-point RANSAC using 3D </a:t>
                </a:r>
                <a:r>
                  <a:rPr lang="en-IN" dirty="0" err="1"/>
                  <a:t>keypoints</a:t>
                </a:r>
                <a:r>
                  <a:rPr lang="en-IN" dirty="0"/>
                  <a:t>.</a:t>
                </a:r>
                <a:endParaRPr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Outlier Rejection (PCM): Math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IN" dirty="0"/>
              </a:p>
              <a:p>
                <a:pPr>
                  <a:defRPr sz="2000"/>
                </a:pPr>
                <a:r>
                  <a:rPr lang="en-IN" dirty="0"/>
                  <a:t>Given candidate loop closures L =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dirty="0"/>
                  <a:t>, ...,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IN" i="1" dirty="0" smtClean="0">
                        <a:latin typeface="Cambria Math" panose="02040503050406030204" pitchFamily="18" charset="0"/>
                      </a:rPr>
                      <m:t>⁡</m:t>
                    </m:r>
                  </m:oMath>
                </a14:m>
                <a:r>
                  <a:rPr lang="en-IN" dirty="0"/>
                  <a:t>}, build a graph G=(L,E).</a:t>
                </a:r>
              </a:p>
              <a:p>
                <a:pPr>
                  <a:defRPr sz="2000"/>
                </a:pPr>
                <a:r>
                  <a:rPr lang="en-IN" dirty="0"/>
                  <a:t>Each edge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IN" dirty="0"/>
                  <a:t>) ∈ E if pairwise consistent:</a:t>
                </a:r>
              </a:p>
              <a:p>
                <a:pPr>
                  <a:defRPr sz="2000"/>
                </a:pPr>
                <a:r>
                  <a:rPr lang="en-IN" dirty="0"/>
                  <a:t>  ‖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ar-AE" i="1" dirty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ar-AE" i="1" dirty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ar-AE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𝑗𝑘</m:t>
                        </m:r>
                      </m:sub>
                    </m:sSub>
                    <m:r>
                      <a:rPr lang="ar-AE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ar-AE" dirty="0"/>
                  <a:t>...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𝑛𝑖</m:t>
                        </m:r>
                      </m:sub>
                    </m:sSub>
                  </m:oMath>
                </a14:m>
                <a:r>
                  <a:rPr lang="en-IN" dirty="0"/>
                  <a:t>- I ‖ &lt; </a:t>
                </a:r>
                <a:r>
                  <a:rPr lang="el-GR" dirty="0"/>
                  <a:t>ε (</a:t>
                </a:r>
                <a:r>
                  <a:rPr lang="en-IN" dirty="0"/>
                  <a:t>cycle consistency).</a:t>
                </a:r>
              </a:p>
              <a:p>
                <a:pPr>
                  <a:defRPr sz="2000"/>
                </a:pPr>
                <a:r>
                  <a:rPr lang="en-IN" dirty="0"/>
                  <a:t>Find maximum clique C ⊆ L where all loop closures are consistent.</a:t>
                </a:r>
              </a:p>
              <a:p>
                <a:pPr>
                  <a:defRPr sz="2000"/>
                </a:pPr>
                <a:r>
                  <a:rPr lang="en-IN" dirty="0"/>
                  <a:t>Incremental clique selection avoids full graph </a:t>
                </a:r>
                <a:r>
                  <a:rPr lang="en-IN" dirty="0" err="1"/>
                  <a:t>recomputation</a:t>
                </a:r>
                <a:r>
                  <a:rPr lang="en-IN" dirty="0"/>
                  <a:t>.</a:t>
                </a:r>
                <a:endParaRPr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6. Pose Graph Optimization (PGO): Math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  <a:defRPr sz="2000"/>
                </a:pPr>
                <a:r>
                  <a:rPr lang="en-IN" dirty="0"/>
                  <a:t>Objective: estimate global poses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I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lit/>
                      </m:rPr>
                      <a:rPr lang="en-IN" i="1" dirty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i="1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ar-AE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ar-AE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ar-AE" b="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ar-AE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m:rPr>
                        <m:lit/>
                      </m:rPr>
                      <a:rPr lang="ar-AE" i="1" dirty="0" smtClean="0">
                        <a:latin typeface="Cambria Math" panose="02040503050406030204" pitchFamily="18" charset="0"/>
                      </a:rPr>
                      <m:t>}</m:t>
                    </m:r>
                    <m:r>
                      <a:rPr lang="ar-AE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lit/>
                      </m:rPr>
                      <a:rPr lang="ar-AE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dirty="0"/>
                  <a:t>minimizing residuals:</a:t>
                </a:r>
              </a:p>
              <a:p>
                <a:pPr marL="1714500" lvl="4" indent="0">
                  <a:buNone/>
                  <a:defRPr sz="2000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IN" b="0" i="1" dirty="0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IN" i="0" dirty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d>
                              <m:dPr>
                                <m:begChr m:val="{"/>
                                <m:endChr m:val="}"/>
                                <m:ctrlPr>
                                  <a:rPr lang="en-IN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I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i="1" dirty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IN" i="1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lim>
                        </m:limLow>
                      </m:fName>
                      <m:e/>
                    </m:func>
                    <m:r>
                      <a:rPr lang="en-IN" i="1" dirty="0" smtClean="0">
                        <a:latin typeface="Cambria Math" panose="02040503050406030204" pitchFamily="18" charset="0"/>
                      </a:rPr>
                      <m:t>∑</m:t>
                    </m:r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/>
                      <m:sub>
                        <m:d>
                          <m:dPr>
                            <m:begChr m:val="{"/>
                            <m:endChr m:val="}"/>
                            <m:ctrlPr>
                              <a:rPr lang="en-IN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IN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IN" i="1" dirty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IN" i="1" dirty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d>
                            <m:r>
                              <a:rPr lang="en-IN" i="1" dirty="0">
                                <a:latin typeface="Cambria Math" panose="02040503050406030204" pitchFamily="18" charset="0"/>
                              </a:rPr>
                              <m:t> ∈ </m:t>
                            </m:r>
                            <m:r>
                              <a:rPr lang="en-IN" i="1" dirty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d>
                      </m:sub>
                    </m:sSub>
                    <m:r>
                      <a:rPr lang="en-IN" i="1" dirty="0" smtClean="0">
                        <a:latin typeface="Cambria Math" panose="02040503050406030204" pitchFamily="18" charset="0"/>
                      </a:rPr>
                      <m:t>‖ </m:t>
                    </m:r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IN" i="1" dirty="0" smtClean="0">
                        <a:latin typeface="Cambria Math" panose="02040503050406030204" pitchFamily="18" charset="0"/>
                      </a:rPr>
                      <m:t> − </m:t>
                    </m:r>
                    <m:sSubSup>
                      <m:sSubSup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-</m:t>
                        </m:r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IN" i="1" dirty="0" smtClean="0"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IN" b="0" i="0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i="1" dirty="0" smtClean="0">
                            <a:latin typeface="Cambria Math" panose="02040503050406030204" pitchFamily="18" charset="0"/>
                          </a:rPr>
                          <m:t>‖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l-GR" dirty="0">
                            <a:latin typeface="Cambria Math" panose="02040503050406030204" pitchFamily="18" charset="0"/>
                          </a:rPr>
                          <m:t>Σ</m:t>
                        </m:r>
                        <m:r>
                          <m:rPr>
                            <m:nor/>
                          </m:rPr>
                          <a:rPr lang="el-GR" dirty="0"/>
                          <m:t> </m:t>
                        </m:r>
                      </m:sub>
                      <m:sup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IN" dirty="0"/>
                  <a:t> </a:t>
                </a:r>
              </a:p>
              <a:p>
                <a:pPr marL="0" indent="0">
                  <a:buNone/>
                  <a:defRPr sz="2000"/>
                </a:pPr>
                <a:r>
                  <a:rPr lang="en-IN" dirty="0"/>
                  <a:t>where </a:t>
                </a:r>
                <a:r>
                  <a:rPr lang="el-GR" dirty="0"/>
                  <a:t>Σ </a:t>
                </a:r>
                <a:r>
                  <a:rPr lang="en-IN" dirty="0"/>
                  <a:t>is the covariance matrix for each measurement.</a:t>
                </a:r>
              </a:p>
              <a:p>
                <a:pPr marL="0" indent="0">
                  <a:buNone/>
                  <a:defRPr sz="2000"/>
                </a:pPr>
                <a:endParaRPr lang="en-IN" dirty="0"/>
              </a:p>
              <a:p>
                <a:pPr marL="0" indent="0">
                  <a:buNone/>
                  <a:defRPr sz="2000"/>
                </a:pPr>
                <a:r>
                  <a:rPr lang="en-IN" dirty="0"/>
                  <a:t>RBCD alternates over blocks of SE(3) variables with local retractions:</a:t>
                </a:r>
              </a:p>
              <a:p>
                <a:pPr marL="0" indent="0">
                  <a:buNone/>
                  <a:defRPr sz="2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 i="1" dirty="0">
                          <a:latin typeface="Cambria Math" panose="02040503050406030204" pitchFamily="18" charset="0"/>
                        </a:rPr>
                        <m:t> ← </m:t>
                      </m:r>
                      <m:r>
                        <a:rPr lang="en-IN" i="1" dirty="0">
                          <a:latin typeface="Cambria Math" panose="02040503050406030204" pitchFamily="18" charset="0"/>
                        </a:rPr>
                        <m:t>𝐸𝑥𝑝</m:t>
                      </m:r>
                      <m:sSub>
                        <m:sSubPr>
                          <m:ctrlPr>
                            <a:rPr lang="en-I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 i="1" dirty="0" err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IN" i="1" dirty="0">
                          <a:latin typeface="Cambria Math" panose="02040503050406030204" pitchFamily="18" charset="0"/>
                        </a:rPr>
                        <m:t>) ∘ </m:t>
                      </m:r>
                      <m:sSub>
                        <m:sSubPr>
                          <m:ctrlPr>
                            <a:rPr lang="en-I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 dirty="0" err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 i="1" dirty="0"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en-I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  <a:defRPr sz="2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i="1" dirty="0" err="1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 i="1" dirty="0">
                          <a:latin typeface="Cambria Math" panose="02040503050406030204" pitchFamily="18" charset="0"/>
                        </a:rPr>
                        <m:t> ∈</m:t>
                      </m:r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𝑠𝑒</m:t>
                      </m:r>
                      <m:r>
                        <a:rPr lang="en-IN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i="1" dirty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IN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dirty="0"/>
              </a:p>
              <a:p>
                <a:pPr marL="0" indent="0">
                  <a:buNone/>
                  <a:defRPr sz="2000"/>
                </a:pPr>
                <a:r>
                  <a:rPr lang="en-IN" dirty="0"/>
                  <a:t>Advantages: convergence guarantee, communication efficiency, and privacy.</a:t>
                </a:r>
                <a:endParaRPr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7. Local Mesh Optimization (LMO): Math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IN" dirty="0"/>
              </a:p>
              <a:p>
                <a:pPr marL="0" indent="0">
                  <a:buNone/>
                  <a:defRPr sz="2000"/>
                </a:pPr>
                <a:r>
                  <a:rPr lang="en-IN" dirty="0"/>
                  <a:t>Use deformation graphs to align local mesh to corrected trajectory.</a:t>
                </a:r>
              </a:p>
              <a:p>
                <a:pPr marL="0" indent="0">
                  <a:buNone/>
                  <a:defRPr sz="2000"/>
                </a:pPr>
                <a:r>
                  <a:rPr lang="en-IN" dirty="0"/>
                  <a:t>Mesh deformation:</a:t>
                </a:r>
              </a:p>
              <a:p>
                <a:pPr>
                  <a:defRPr sz="2000"/>
                </a:pPr>
                <a:r>
                  <a:rPr lang="en-IN" dirty="0"/>
                  <a:t> For each vertex v ∈ mesh, anchor to nearest keyframe pose.</a:t>
                </a:r>
              </a:p>
              <a:p>
                <a:pPr marL="0" indent="0">
                  <a:buNone/>
                  <a:defRPr sz="2000"/>
                </a:pPr>
                <a:r>
                  <a:rPr lang="en-IN" dirty="0"/>
                  <a:t>					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i="1" dirty="0" smtClean="0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/>
                    </m:nary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dirty="0" err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IN" i="1" dirty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 dirty="0" err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 + </m:t>
                        </m:r>
                        <m:sSub>
                          <m:sSubPr>
                            <m:ctrlPr>
                              <a:rPr lang="en-I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 dirty="0" err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n-IN" i="1" dirty="0">
                    <a:latin typeface="Cambria Math" panose="02040503050406030204" pitchFamily="18" charset="0"/>
                  </a:rPr>
                  <a:t>,</a:t>
                </a:r>
              </a:p>
              <a:p>
                <a:pPr marL="0" indent="0">
                  <a:buNone/>
                  <a:defRPr sz="2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dirty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I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 dirty="0" err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IN" i="1" dirty="0">
                          <a:latin typeface="Cambria Math" panose="02040503050406030204" pitchFamily="18" charset="0"/>
                        </a:rPr>
                        <m:t> ∈ </m:t>
                      </m:r>
                      <m:r>
                        <a:rPr lang="en-IN" i="1" dirty="0">
                          <a:latin typeface="Cambria Math" panose="02040503050406030204" pitchFamily="18" charset="0"/>
                        </a:rPr>
                        <m:t>𝑆𝑂</m:t>
                      </m:r>
                      <m:r>
                        <a:rPr lang="en-IN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i="1" dirty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IN" i="1" dirty="0">
                          <a:latin typeface="Cambria Math" panose="02040503050406030204" pitchFamily="18" charset="0"/>
                        </a:rPr>
                        <m:t>), </m:t>
                      </m:r>
                      <m:sSub>
                        <m:sSubPr>
                          <m:ctrlPr>
                            <a:rPr lang="en-I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 dirty="0" err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IN" i="1" dirty="0">
                          <a:latin typeface="Cambria Math" panose="02040503050406030204" pitchFamily="18" charset="0"/>
                        </a:rPr>
                        <m:t> ∈ </m:t>
                      </m:r>
                      <m:r>
                        <a:rPr lang="en-IN" i="1" dirty="0">
                          <a:latin typeface="Cambria Math" panose="02040503050406030204" pitchFamily="18" charset="0"/>
                        </a:rPr>
                        <m:t>ℝ</m:t>
                      </m:r>
                      <m:r>
                        <a:rPr lang="en-IN" i="1" dirty="0">
                          <a:latin typeface="Cambria Math" panose="02040503050406030204" pitchFamily="18" charset="0"/>
                        </a:rPr>
                        <m:t>³</m:t>
                      </m:r>
                    </m:oMath>
                  </m:oMathPara>
                </a14:m>
                <a:endParaRPr lang="en-IN" dirty="0"/>
              </a:p>
              <a:p>
                <a:pPr marL="0" indent="0">
                  <a:buNone/>
                  <a:defRPr sz="2000"/>
                </a:pPr>
                <a:r>
                  <a:rPr lang="en-IN" dirty="0"/>
                  <a:t>Preserves local rigidity and semantic labels.</a:t>
                </a:r>
                <a:endParaRPr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Experimental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Simulation: DCIST Camp and City (Unity), Real: EuRoc dataset.</a:t>
            </a:r>
          </a:p>
          <a:p>
            <a:pPr>
              <a:defRPr sz="2000"/>
            </a:pPr>
            <a:r>
              <a:t>Outlier Rejection: Incremental PCM achieves ~10x speed-up over batch.</a:t>
            </a:r>
          </a:p>
          <a:p>
            <a:pPr>
              <a:defRPr sz="2000"/>
            </a:pPr>
            <a:r>
              <a:t>PGO: RBCD achieves lower ATE than DGS and local PGO.</a:t>
            </a:r>
          </a:p>
          <a:p>
            <a:pPr>
              <a:defRPr sz="2000"/>
            </a:pPr>
            <a:r>
              <a:t>LMO: Improves accuracy of 3D meshes while preserving semantics.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Communication &amp; Efficiency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Kimera-Multi uses only 21–38% of bandwidth of centralized systems.</a:t>
            </a:r>
          </a:p>
          <a:p>
            <a:pPr>
              <a:defRPr sz="2000"/>
            </a:pPr>
            <a:r>
              <a:t>Unicast communication scales quadratically with robot count.</a:t>
            </a:r>
          </a:p>
          <a:p>
            <a:pPr>
              <a:defRPr sz="2000"/>
            </a:pPr>
            <a:r>
              <a:t>BoW descriptors are compact and support scalable loop detection.</a:t>
            </a:r>
          </a:p>
          <a:p>
            <a:pPr>
              <a:defRPr sz="2000"/>
            </a:pPr>
            <a:r>
              <a:t>System is modular and implemented in ROS + C++.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Kimera-Multi combines Kimera's dense semantic mapping with distributed SLAM innovations.</a:t>
            </a:r>
          </a:p>
          <a:p>
            <a:pPr>
              <a:defRPr sz="2000"/>
            </a:pPr>
            <a:r>
              <a:t>Future work:</a:t>
            </a:r>
          </a:p>
          <a:p>
            <a:pPr>
              <a:defRPr sz="2000"/>
            </a:pPr>
            <a:r>
              <a:t>• Unify pose optimization and mesh deformation.</a:t>
            </a:r>
          </a:p>
          <a:p>
            <a:pPr>
              <a:defRPr sz="2000"/>
            </a:pPr>
            <a:r>
              <a:t>• Nesterov acceleration and robust GNC methods.</a:t>
            </a:r>
          </a:p>
          <a:p>
            <a:pPr>
              <a:defRPr sz="2000"/>
            </a:pPr>
            <a:r>
              <a:t>• Better scalability for large robot teams.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299</TotalTime>
  <Words>619</Words>
  <Application>Microsoft Office PowerPoint</Application>
  <PresentationFormat>On-screen Show (4:3)</PresentationFormat>
  <Paragraphs>72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Calisto MT</vt:lpstr>
      <vt:lpstr>Cambria Math</vt:lpstr>
      <vt:lpstr>Wingdings 2</vt:lpstr>
      <vt:lpstr>Slate</vt:lpstr>
      <vt:lpstr>Kimera-Multi: Distributed Multi-Robot Metric-Semantic SLAM</vt:lpstr>
      <vt:lpstr>1. Introduction &amp; Motivation</vt:lpstr>
      <vt:lpstr>2. Key Contributions</vt:lpstr>
      <vt:lpstr>3. System Architecture</vt:lpstr>
      <vt:lpstr>4. Loop Closure Detection: Math Formulation</vt:lpstr>
      <vt:lpstr>5. Outlier Rejection (PCM): Math</vt:lpstr>
      <vt:lpstr>6. Pose Graph Optimization (PGO): Math</vt:lpstr>
      <vt:lpstr>7. Local Mesh Optimization (LMO): Math</vt:lpstr>
      <vt:lpstr>8. Experimental Results</vt:lpstr>
      <vt:lpstr>9. Communication &amp; Efficiency</vt:lpstr>
      <vt:lpstr>10. Conclusion &amp; Future Work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Aniketh B</dc:creator>
  <cp:keywords/>
  <dc:description>generated using python-pptx</dc:description>
  <cp:lastModifiedBy>Aniketh B</cp:lastModifiedBy>
  <cp:revision>3</cp:revision>
  <dcterms:created xsi:type="dcterms:W3CDTF">2013-01-27T09:14:16Z</dcterms:created>
  <dcterms:modified xsi:type="dcterms:W3CDTF">2025-06-30T19:24:48Z</dcterms:modified>
  <cp:category/>
</cp:coreProperties>
</file>